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20"/>
    <p:sldId id="257" r:id="rId3"/>
    <p:sldId id="258" r:id="rId4"/>
    <p:sldId id="259" r:id="rId5"/>
    <p:sldId id="260" r:id="rId6"/>
    <p:sldId id="261" r:id="rId7"/>
    <p:sldId id="270" r:id="rId21"/>
    <p:sldId id="262" r:id="rId8"/>
    <p:sldId id="263" r:id="rId9"/>
    <p:sldId id="264" r:id="rId10"/>
    <p:sldId id="265" r:id="rId11"/>
    <p:sldId id="266" r:id="rId12"/>
    <p:sldId id="267" r:id="rId13"/>
    <p:sldId id="271" r:id="rId22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Emphasize: this is a concept proposal designed to drive conversation, not a finished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is critical. Establish credibility by being clear about what you know and don't know. Strategic maturity is knowing what you don't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Discovery-first signals maturity. The 5 areas: tech stack, market, commercial, GTM, and culture. Emphasize that this work happens before committing to any execution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inflection point is the core thesis. The platform that already handles governed access is uniquely positioned as the intelligence layer. Current TAM ~$3-5B, expanded TAM $25-50B+.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CDO opens the door; VP AI/Analytics drives expansion. CIO enters as late-stage validator. Digital Transformation is opportunistic. The multi-buyer model creates a land-and-expand dynamic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layers, each building on the one below. Semantic layer is the foundation. Partner-first approach gets us to market quickly while building proprietary IP. The multi-tenant RBAC moat in Layer 4 is a genuine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is the most significant near-term limiter. CDO-led entry, VP AI/Analytics expansion. Financial services is the vertical wedge — 3-5 reference customers that become the foundation of the enterprise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licence closes the initial deal; consumption layer grows naturally as AI product drives adoption. This creates a land-and-expand dynamic without requiring sales involvement in every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about alignment and validation — not premature delivery. The honest 90-day ambition is architecture decisions and a working proof of concept. Phases 2-4 are provisional pending discovery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engineers operating with the output velocity of 16-20. Done right, this is the single highest-leverage cultural change. Done poorly, it generates technical debt faster than humans can create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$200M enterprise value in 3 years. Not just an exit objective — a leverage objective. A company at that valuation has choices: acquired on favorable terms, raise growth capital from strength, or continue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conditions are the success criteria. If any one of them fails to materialise, the $200M thesis needs to be revised. Worth discussing each one with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Come back to the beginning: this is a starting point, not the conclusion. The conversation with leadership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0B981"/>
                </a:solidFill>
              </a:rPr>
              <a:t>Revelate.co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</a:rPr>
              <a:t>Strategic Concept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FAE5"/>
                </a:solidFill>
              </a:rPr>
              <a:t>Unlocking the Next Phase of Growth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 Leadership Perspective on Product, AI, and Go-to-Market Strategy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June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DRAFT — For Discussion Purposes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PREFACE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An Invitation to a Conversation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1FAE5"/>
                </a:solidFill>
              </a:rPr>
              <a:t>This document is a starting point, not a finished strategy.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 This 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356616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 hypothesis-driven strategic 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Designed to demonstrate strategic thinking and approach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 foundation for meaningful leadership dialogue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Specific and opinionated — because vague strategy is no strategy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What This Is Not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359152"/>
            <a:ext cx="356616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 final strategic plan or execution roadmap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 commitment to specific timelines or budgets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 reflection of Revelate's internal priorities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 substitute for the discovery work that must come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Every conclusion here is a hypothesis. I hold every assumption lightly.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Discovery First — The First 30–60 Days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Before strategy is executed, I need to understand Revelate from the inside. Everything that follows would be revised based on what I learn.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848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4203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FAFB"/>
                </a:solidFill>
              </a:rPr>
              <a:t>Technology Stack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2999232"/>
            <a:ext cx="138988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Architecture, integrations, tech debt, engineering velocity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98548" y="192024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0848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89988" y="254203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FAFB"/>
                </a:solidFill>
              </a:rPr>
              <a:t>Market &amp; Competitive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189988" y="2999232"/>
            <a:ext cx="138988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Positioning, vulnerabilities, AI-driven competitive shifts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39896" y="192024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08483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31336" y="254203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FAFB"/>
                </a:solidFill>
              </a:rPr>
              <a:t>Commercial &amp; Financial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831336" y="2999232"/>
            <a:ext cx="138988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Revenue, churn, ACV, unit economics, burn rate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1244" y="192024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08483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72684" y="254203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FAFB"/>
                </a:solidFill>
              </a:rPr>
              <a:t>Sales Pipeline &amp; GTM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72684" y="2999232"/>
            <a:ext cx="138988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Buyers, objections, deal velocity, expansion revenue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022592" y="192024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208483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14032" y="254203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FAFB"/>
                </a:solidFill>
              </a:rPr>
              <a:t>Culture, People &amp; Goals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7114032" y="2999232"/>
            <a:ext cx="1389888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Team strengths, leadership vision, what success looks like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3A2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594360" y="412394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1FAE5"/>
                </a:solidFill>
              </a:rPr>
              <a:t>All strategic direction, roadmap sequencing, and financial projections in this document are subject to material revision following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2 — 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The AI Inflection Point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1FAE5"/>
                </a:solidFill>
              </a:rPr>
              <a:t>The constraint that defined data platforms is collapsing.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LLMs and agentic AI mean a VP of Sales or CRO can now interrogate complex data in natural language. For Revelate, this is not a threat — it is the most significant expansion opportunity in the company's history.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43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7280"/>
                </a:solidFill>
              </a:rPr>
              <a:t>$3–5B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547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Current TAM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2423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product distribution market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743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$25–50B+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3547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Expanded TAM (AI)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840480"/>
            <a:ext cx="2423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Enterprise analytics &amp; data intelligence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743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4748B"/>
                </a:solidFill>
              </a:rPr>
              <a:t>$1–2B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3547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Adjacent TAM (Reliability)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242316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observability &amp; reliability market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2 — 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Four Buyers. Four Budget Pools.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 single enterprise engagement can draw from four separate budget pools — without requiring a new sales cycle for each expansion.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50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Chief Information Officer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292608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Governance Validator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7830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Risk reduction, compliance, infrastructure standardisation. Highest ACV. Long cycle. Enters late as a validator.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33472" y="187452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0116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24912" y="2450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Chief Data Officer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834640" y="292608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34640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Entry Buyer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724912" y="3200400"/>
            <a:ext cx="17830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Data strategy, productise assets, govern access, demonstrate business value. Revelate's current primary buyer. Opens the door.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09744" y="187452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01168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2450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Digital Transformation Leader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10912" y="292608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10912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Opportunistic Entry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901184" y="3200400"/>
            <a:ext cx="17830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ROI tied to a transformation programme. Fast-moving but time-limited. Best as an opportunistic entry point, not a core motion.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986016" y="187452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01168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77456" y="2450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VP AI / Analytics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187184" y="292608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187184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Expansion Engine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077456" y="3200400"/>
            <a:ext cx="17830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Team capability and AI-native data access. Becomes the most powerful internal advocate. The engine of land-and-expand growth.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3 — AI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Five-Layer AI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64792"/>
            <a:ext cx="0" cy="2286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0817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08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173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3167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Semantic Layer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13167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Partner-first implementation (Cube.dev / dbt). Usage telemetry builds proprietary native semantic model over time — defensible IP.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496312"/>
            <a:ext cx="0" cy="2286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99339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2535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13969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139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4884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89888" y="20482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MCP Interface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840480" y="20482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SOC 2 / ISO 27001-compliant MCP server. Compatible with Claude, Cursor, and every MCP-enabled AI framework out of the box.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8368" y="3227832"/>
            <a:ext cx="0" cy="2286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72491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287121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8036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89888" y="277977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Agentic Data Product Creation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840480" y="27797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AI-assisted scanning of Snowflake/Databricks environments. Collapses data product creation from weeks to hours.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" y="3959352"/>
            <a:ext cx="0" cy="2286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45643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A2535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60273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8640" y="3602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611880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89888" y="35112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Agentic Interrogation Layer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3840480" y="351129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Natural language queries across all data products. Enforces multi-tenant RBAC. Revelate's governance layer is the competitive moat.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57200" y="418795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48640" y="433425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8640" y="4334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43400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89888" y="424281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Data Reliability Layer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840480" y="42428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OpenTelemetry foundation. Real-time freshness monitoring, conflict detection, semantic conflict arbitration, usage intelligence flywheel.</a:t>
            </a:r>
            <a:endParaRPr lang="en-US" sz="1100" dirty="0"/>
          </a:p>
        </p:txBody>
      </p:sp>
      <p:sp>
        <p:nvSpPr>
          <p:cNvPr id="200" name="FoundationBand"/>
          <p:cNvSpPr/>
          <p:nvPr/>
        </p:nvSpPr>
        <p:spPr>
          <a:xfrm>
            <a:off x="457200" y="4862000"/>
            <a:ext cx="8229600" cy="250000"/>
          </a:xfrm>
          <a:prstGeom prst="roundRect">
            <a:avLst>
              <a:gd name="adj" fmla="val 18000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1" name="FoundationText"/>
          <p:cNvSpPr/>
          <p:nvPr/>
        </p:nvSpPr>
        <p:spPr>
          <a:xfrm>
            <a:off x="457200" y="4862000"/>
            <a:ext cx="8229600" cy="25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000" b="1" spc="200" dirty="0">
                <a:solidFill>
                  <a:srgbClr val="6EE7B7"/>
                </a:solidFill>
              </a:rPr>
              <a:t>FOUNDATION  </a:t>
            </a:r>
            <a:r>
              <a:rPr lang="en-US" sz="1000" dirty="0">
                <a:solidFill>
                  <a:srgbClr val="E2E8F0"/>
                </a:solidFill>
              </a:rPr>
              <a:t>Revelate’s existing governed delivery platform — every AI layer above is built on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4 — 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CDO Opens the Door. VP AI Drives Growth.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Chief Data Officer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49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Platform governance, self-serve delivery, data product infrastructure. Long cycle, high ACV.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331720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22037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50876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EXPAND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47288" y="18288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VP AI /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2249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AI interrogation layer goes live. Team capability transforms. Internal pull drives seat and product expansion.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331720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22037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50876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27648" y="18288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</a:rPr>
              <a:t>Chief Information Officer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2249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Governance validator. Compliance, risk reduction, infrastructure standardisation. Deepens the platform deal.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Financial Services: The Vertical Wedge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Revelate has natural DNA in financial services — fintech roots, CME Ventures and Illuminate Financial as investors. Financial data is the richest, highest-ACV vertical. Commit to 3–5 flagship reference customers in the first 12–18 months. Build a repeatable vertical playbook for healthcare and media/advertising next.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4 — 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A Pricing Model That Grows With Adoption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FAE5"/>
                </a:solidFill>
              </a:rPr>
              <a:t>Land with the platform licence. Grow through consumption — without a separate sales cycle.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38528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848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2996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</a:rPr>
              <a:t>Platform Licence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2496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Purchased by CDO or 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35661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Governance infrastructure &amp; catalogue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MCP server (SOC 2 compliant)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Data reliability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Predictable, recurring ARR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1938528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848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02996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</a:rPr>
              <a:t>Consumption Layer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2496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Grows with VP AI / Analytics adoption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2788920"/>
            <a:ext cx="35661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AI query volume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Data product creation events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Agentic workflow executions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Expansion without a new sales cycle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46227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111E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94360" y="45354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</a:rPr>
              <a:t>Expansion becomes a consequence of usage, not a separate sales motion.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5 — PRODUCT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Phased Delivery — From Discovery to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Timelines and scope will be refined following discovery. Phase 1 prioritises alignment and validation over premature delivery.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3154680"/>
          </a:xfrm>
          <a:prstGeom prst="roundRect">
            <a:avLst>
              <a:gd name="adj" fmla="val 372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0 – 90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14173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06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Discovery &amp; leadership alignment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Architecture decisions &amp; AI strategy validation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Semantic layer partner selection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MCP proof of concept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44348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Initial OpenTelemetry setup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33472" y="1828800"/>
            <a:ext cx="1965960" cy="3154680"/>
          </a:xfrm>
          <a:prstGeom prst="roundRect">
            <a:avLst>
              <a:gd name="adj" fmla="val 3721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24912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24912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90 Days – 12 Months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07792" y="2514600"/>
            <a:ext cx="14173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0632" y="2606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Semantic layer (production-grade)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70632" y="30632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MCP server — SOC 2 compliant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70632" y="35204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Agentic interrogation — limited beta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70632" y="39776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AI-assisted data product creation — alpha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70632" y="44348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Data reliability — Phase 1 (availability)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9744" y="1828800"/>
            <a:ext cx="1965960" cy="3154680"/>
          </a:xfrm>
          <a:prstGeom prst="roundRect">
            <a:avLst>
              <a:gd name="adj" fmla="val 372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01184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01184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12 – 24 Months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84064" y="2514600"/>
            <a:ext cx="14173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2606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Agentic interrogation — GA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46904" y="30632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Agentic product creation — GA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46904" y="35204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Full data reliability &amp; conflict 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46904" y="39776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Consumption-based pricing rollout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46904" y="44348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Second vertical entry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86016" y="1828800"/>
            <a:ext cx="1965960" cy="3154680"/>
          </a:xfrm>
          <a:prstGeom prst="roundRect">
            <a:avLst>
              <a:gd name="adj" fmla="val 372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77456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Phase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77456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24 – 36 Months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60336" y="2514600"/>
            <a:ext cx="14173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2606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Marketplace network effects at scale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23176" y="30632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Native semantic model (proprietary IP)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23176" y="35204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Data reliability as standalone product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23176" y="39776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• Platform positioned for $25M+ ARR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6 — ENGINEERING CULTURE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An AI-Native Engineering Organisation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With 8 engineers, the highest-leverage shift is making Revelate AI-native — allowing the team to operate with the output velocity of 12–16.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38528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25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FAFB"/>
                </a:solidFill>
              </a:rPr>
              <a:t>Prompting Standards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Shared conventions for how the team prompts for code generation, review, and testing. Consistency of approach drives consistency of output quality.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938528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225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FAFB"/>
                </a:solidFill>
              </a:rPr>
              <a:t>AI-First Code Review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212080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Senior engineers understand the failure modes of AI-generated code — plausible-looking logic that is wrong, missing edge cases, over-confident test coverage.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7588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383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FAFB"/>
                </a:solidFill>
              </a:rPr>
              <a:t>POC Velocity Process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51560" y="3749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clear definition of 'done' for a proof of concept. AI tools help validate ideas quickly without creating a pathway from prototype quality into production.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17720" y="32918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7588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3383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FAFB"/>
                </a:solidFill>
              </a:rPr>
              <a:t>Native Semantic IP Pipeline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212080" y="3749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AI-assisted analysis of usage telemetry — alongside a data scientist — to progressively build Revelate's own semantic model. Defensible, proprietary IP.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57200" y="43434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111E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94360" y="440740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An AI-native engineering org is also a talent story, a recruiting signal, and an investor narrative. Headcount efficiency that looks different from comparable-stage companies — because we are genuinely building differently.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7 — VALUE CREATION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The Path to $200M Enterprise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$3M ARR today. A ~$25M ARR central case puts Revelate near ~$200M enterprise value within three years — the scenarios below bracket that one case.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01952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933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</a:rPr>
              <a:t>REVENUE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$3M → $30M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~115% CAGR over 3 years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310128"/>
            <a:ext cx="18745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01568"/>
            <a:ext cx="24231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Improved GTM execution, AI-driven ICP expansion, financial services reference customers. At 7–8x, reaches $210–240M.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901952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9933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</a:rPr>
              <a:t>MULTIPLE EXPANSION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22677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10–15x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Revenue multiple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310128"/>
            <a:ext cx="18745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401568"/>
            <a:ext cx="24231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Genuine marketplace network effects + AI-native differentiation. At $20M ARR, that reaches $200–300M valuation.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901952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72E23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9933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MOST LIKELY 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22677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$200–300M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17920" y="2971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$20–25M ARR × 8–12x multiple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3310128"/>
            <a:ext cx="18745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401568"/>
            <a:ext cx="24231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Strong growth momentum + demonstrable marketplace dynamics. The realistic $200M scenario within the three-year window.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7 — VALUE CREATION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</a:rPr>
              <a:t>What Must Be True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447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362456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GTM execution improves materially — focused vertical strategy, sharper ICP, a pricing model that enables land-and-expand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1226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02996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The AI product layers create genuine incremental revenue — higher ACV per customer and an expanded buyer universe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63347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7977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992" y="269748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Marketplace dynamics begin to emerge — data providers and consumers create pull on each other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330098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44728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992" y="3364992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Financial services produces 3–5 flagship enterprise reference customers — the social proof that accelerates mid-market velocity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39684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1480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8992" y="403250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The engineering culture shift delivers velocity — the AI roadmap is executed with a lean team because the team is genuinely building differently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114800"/>
            <a:ext cx="2011680" cy="20116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</a:rPr>
              <a:t>Revelate.co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"The real strategy gets written after the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</a:rPr>
              <a:t>discovery work is complete."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After leadership has tested these hypotheses against their own knowledge of the business, and after the team has had the chance to push back on what I have gotten wrong.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84448"/>
            <a:ext cx="22860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FAE5"/>
                </a:solidFill>
              </a:rPr>
              <a:t>Confident in the direction. Appropriately humble about the details.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DRAFT — For Discussion Purposes Only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457200" y="254000"/>
            <a:ext cx="822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DOCUMENT OVERVIEW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4826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kern="0" dirty="0">
                <a:solidFill>
                  <a:srgbClr val="F9FAFB"/>
                </a:solidFill>
              </a:rPr>
              <a:t>What This Covers</a:t>
            </a:r>
            <a:endParaRPr lang="en-US" sz="2800" dirty="0"/>
          </a:p>
        </p:txBody>
      </p:sp>
      <p:sp>
        <p:nvSpPr>
          <p:cNvPr id="4" name="Intro"/>
          <p:cNvSpPr/>
          <p:nvPr/>
        </p:nvSpPr>
        <p:spPr>
          <a:xfrm>
            <a:off x="457200" y="10922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kern="0" dirty="0">
                <a:solidFill>
                  <a:srgbClr val="9CA3AF"/>
                </a:solidFill>
              </a:rPr>
              <a:t>A concept proposal in eight parts — discovery first, then the strategy it would inform, and the risks that could break it.</a:t>
            </a:r>
            <a:endParaRPr lang="en-US" sz="1200" dirty="0"/>
          </a:p>
        </p:txBody>
      </p:sp>
      <p:sp>
        <p:nvSpPr>
          <p:cNvPr id="5" name="Circle"/>
          <p:cNvSpPr/>
          <p:nvPr/>
        </p:nvSpPr>
        <p:spPr>
          <a:xfrm>
            <a:off x="457200" y="19050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6" name="Num"/>
          <p:cNvSpPr/>
          <p:nvPr/>
        </p:nvSpPr>
        <p:spPr>
          <a:xfrm>
            <a:off x="457200" y="19177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Lab"/>
          <p:cNvSpPr/>
          <p:nvPr/>
        </p:nvSpPr>
        <p:spPr>
          <a:xfrm>
            <a:off x="939800" y="18669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Discovery First</a:t>
            </a:r>
            <a:endParaRPr lang="en-US" sz="1300" dirty="0"/>
          </a:p>
        </p:txBody>
      </p:sp>
      <p:sp>
        <p:nvSpPr>
          <p:cNvPr id="8" name="Sub"/>
          <p:cNvSpPr/>
          <p:nvPr/>
        </p:nvSpPr>
        <p:spPr>
          <a:xfrm>
            <a:off x="939800" y="21590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30–60 day evidence-gathering sprint</a:t>
            </a:r>
            <a:endParaRPr lang="en-US" sz="1000" dirty="0"/>
          </a:p>
        </p:txBody>
      </p:sp>
      <p:sp>
        <p:nvSpPr>
          <p:cNvPr id="9" name="Circle"/>
          <p:cNvSpPr/>
          <p:nvPr/>
        </p:nvSpPr>
        <p:spPr>
          <a:xfrm>
            <a:off x="457200" y="25654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10" name="Num"/>
          <p:cNvSpPr/>
          <p:nvPr/>
        </p:nvSpPr>
        <p:spPr>
          <a:xfrm>
            <a:off x="457200" y="25781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Lab"/>
          <p:cNvSpPr/>
          <p:nvPr/>
        </p:nvSpPr>
        <p:spPr>
          <a:xfrm>
            <a:off x="939800" y="25273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The Market Opportunity</a:t>
            </a:r>
            <a:endParaRPr lang="en-US" sz="1300" dirty="0"/>
          </a:p>
        </p:txBody>
      </p:sp>
      <p:sp>
        <p:nvSpPr>
          <p:cNvPr id="12" name="Sub"/>
          <p:cNvSpPr/>
          <p:nvPr/>
        </p:nvSpPr>
        <p:spPr>
          <a:xfrm>
            <a:off x="939800" y="28194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AI inflection point and TAM expansion</a:t>
            </a:r>
            <a:endParaRPr lang="en-US" sz="1000" dirty="0"/>
          </a:p>
        </p:txBody>
      </p:sp>
      <p:sp>
        <p:nvSpPr>
          <p:cNvPr id="13" name="Circle"/>
          <p:cNvSpPr/>
          <p:nvPr/>
        </p:nvSpPr>
        <p:spPr>
          <a:xfrm>
            <a:off x="457200" y="32258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14" name="Num"/>
          <p:cNvSpPr/>
          <p:nvPr/>
        </p:nvSpPr>
        <p:spPr>
          <a:xfrm>
            <a:off x="457200" y="32385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Lab"/>
          <p:cNvSpPr/>
          <p:nvPr/>
        </p:nvSpPr>
        <p:spPr>
          <a:xfrm>
            <a:off x="939800" y="31877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The AI Strategy</a:t>
            </a:r>
            <a:endParaRPr lang="en-US" sz="1300" dirty="0"/>
          </a:p>
        </p:txBody>
      </p:sp>
      <p:sp>
        <p:nvSpPr>
          <p:cNvPr id="16" name="Sub"/>
          <p:cNvSpPr/>
          <p:nvPr/>
        </p:nvSpPr>
        <p:spPr>
          <a:xfrm>
            <a:off x="939800" y="34798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Five-layer architecture on the platform</a:t>
            </a:r>
            <a:endParaRPr lang="en-US" sz="1000" dirty="0"/>
          </a:p>
        </p:txBody>
      </p:sp>
      <p:sp>
        <p:nvSpPr>
          <p:cNvPr id="17" name="Circle"/>
          <p:cNvSpPr/>
          <p:nvPr/>
        </p:nvSpPr>
        <p:spPr>
          <a:xfrm>
            <a:off x="457200" y="38862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18" name="Num"/>
          <p:cNvSpPr/>
          <p:nvPr/>
        </p:nvSpPr>
        <p:spPr>
          <a:xfrm>
            <a:off x="457200" y="38989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Lab"/>
          <p:cNvSpPr/>
          <p:nvPr/>
        </p:nvSpPr>
        <p:spPr>
          <a:xfrm>
            <a:off x="939800" y="38481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Go-to-Market</a:t>
            </a:r>
            <a:endParaRPr lang="en-US" sz="1300" dirty="0"/>
          </a:p>
        </p:txBody>
      </p:sp>
      <p:sp>
        <p:nvSpPr>
          <p:cNvPr id="20" name="Sub"/>
          <p:cNvSpPr/>
          <p:nvPr/>
        </p:nvSpPr>
        <p:spPr>
          <a:xfrm>
            <a:off x="939800" y="41402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Vertical wedge, buyer motion, pricing</a:t>
            </a:r>
            <a:endParaRPr lang="en-US" sz="1000" dirty="0"/>
          </a:p>
        </p:txBody>
      </p:sp>
      <p:sp>
        <p:nvSpPr>
          <p:cNvPr id="21" name="Circle"/>
          <p:cNvSpPr/>
          <p:nvPr/>
        </p:nvSpPr>
        <p:spPr>
          <a:xfrm>
            <a:off x="4724400" y="19050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22" name="Num"/>
          <p:cNvSpPr/>
          <p:nvPr/>
        </p:nvSpPr>
        <p:spPr>
          <a:xfrm>
            <a:off x="4724400" y="19177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Lab"/>
          <p:cNvSpPr/>
          <p:nvPr/>
        </p:nvSpPr>
        <p:spPr>
          <a:xfrm>
            <a:off x="5207000" y="18669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Product Roadmap</a:t>
            </a:r>
            <a:endParaRPr lang="en-US" sz="1300" dirty="0"/>
          </a:p>
        </p:txBody>
      </p:sp>
      <p:sp>
        <p:nvSpPr>
          <p:cNvPr id="24" name="Sub"/>
          <p:cNvSpPr/>
          <p:nvPr/>
        </p:nvSpPr>
        <p:spPr>
          <a:xfrm>
            <a:off x="5207000" y="21590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Phased delivery from discovery to scale</a:t>
            </a:r>
            <a:endParaRPr lang="en-US" sz="1000" dirty="0"/>
          </a:p>
        </p:txBody>
      </p:sp>
      <p:sp>
        <p:nvSpPr>
          <p:cNvPr id="25" name="Circle"/>
          <p:cNvSpPr/>
          <p:nvPr/>
        </p:nvSpPr>
        <p:spPr>
          <a:xfrm>
            <a:off x="4724400" y="25654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26" name="Num"/>
          <p:cNvSpPr/>
          <p:nvPr/>
        </p:nvSpPr>
        <p:spPr>
          <a:xfrm>
            <a:off x="4724400" y="25781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Lab"/>
          <p:cNvSpPr/>
          <p:nvPr/>
        </p:nvSpPr>
        <p:spPr>
          <a:xfrm>
            <a:off x="5207000" y="25273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Engineering Culture</a:t>
            </a:r>
            <a:endParaRPr lang="en-US" sz="1300" dirty="0"/>
          </a:p>
        </p:txBody>
      </p:sp>
      <p:sp>
        <p:nvSpPr>
          <p:cNvPr id="28" name="Sub"/>
          <p:cNvSpPr/>
          <p:nvPr/>
        </p:nvSpPr>
        <p:spPr>
          <a:xfrm>
            <a:off x="5207000" y="28194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An AI-native engineering organisation</a:t>
            </a:r>
            <a:endParaRPr lang="en-US" sz="1000" dirty="0"/>
          </a:p>
        </p:txBody>
      </p:sp>
      <p:sp>
        <p:nvSpPr>
          <p:cNvPr id="29" name="Circle"/>
          <p:cNvSpPr/>
          <p:nvPr/>
        </p:nvSpPr>
        <p:spPr>
          <a:xfrm>
            <a:off x="4724400" y="32258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0" name="Num"/>
          <p:cNvSpPr/>
          <p:nvPr/>
        </p:nvSpPr>
        <p:spPr>
          <a:xfrm>
            <a:off x="4724400" y="32385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Lab"/>
          <p:cNvSpPr/>
          <p:nvPr/>
        </p:nvSpPr>
        <p:spPr>
          <a:xfrm>
            <a:off x="5207000" y="31877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Value Creation</a:t>
            </a:r>
            <a:endParaRPr lang="en-US" sz="1300" dirty="0"/>
          </a:p>
        </p:txBody>
      </p:sp>
      <p:sp>
        <p:nvSpPr>
          <p:cNvPr id="32" name="Sub"/>
          <p:cNvSpPr/>
          <p:nvPr/>
        </p:nvSpPr>
        <p:spPr>
          <a:xfrm>
            <a:off x="5207000" y="34798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The path to ~$200M enterprise value</a:t>
            </a:r>
            <a:endParaRPr lang="en-US" sz="1000" dirty="0"/>
          </a:p>
        </p:txBody>
      </p:sp>
      <p:sp>
        <p:nvSpPr>
          <p:cNvPr id="33" name="Circle"/>
          <p:cNvSpPr/>
          <p:nvPr/>
        </p:nvSpPr>
        <p:spPr>
          <a:xfrm>
            <a:off x="4724400" y="3886200"/>
            <a:ext cx="330200" cy="330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4" name="Num"/>
          <p:cNvSpPr/>
          <p:nvPr/>
        </p:nvSpPr>
        <p:spPr>
          <a:xfrm>
            <a:off x="4724400" y="38989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6EE7B7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Lab"/>
          <p:cNvSpPr/>
          <p:nvPr/>
        </p:nvSpPr>
        <p:spPr>
          <a:xfrm>
            <a:off x="5207000" y="38481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9FAFB"/>
                </a:solidFill>
              </a:rPr>
              <a:t>Risks</a:t>
            </a:r>
            <a:endParaRPr lang="en-US" sz="1300" dirty="0"/>
          </a:p>
        </p:txBody>
      </p:sp>
      <p:sp>
        <p:nvSpPr>
          <p:cNvPr id="36" name="Sub"/>
          <p:cNvSpPr/>
          <p:nvPr/>
        </p:nvSpPr>
        <p:spPr>
          <a:xfrm>
            <a:off x="5207000" y="4140200"/>
            <a:ext cx="35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9CA3AF"/>
                </a:solidFill>
              </a:rPr>
              <a:t>What could break the thesis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etitive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457200" y="254000"/>
            <a:ext cx="822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3 · COMPETITIVE REALITY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4826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kern="0" dirty="0">
                <a:solidFill>
                  <a:srgbClr val="F9FAFB"/>
                </a:solidFill>
              </a:rPr>
              <a:t>Why Revelate Wins When the Platforms Ship This</a:t>
            </a:r>
            <a:endParaRPr lang="en-US" sz="2800" dirty="0"/>
          </a:p>
        </p:txBody>
      </p:sp>
      <p:sp>
        <p:nvSpPr>
          <p:cNvPr id="4" name="Intro"/>
          <p:cNvSpPr/>
          <p:nvPr/>
        </p:nvSpPr>
        <p:spPr>
          <a:xfrm>
            <a:off x="457200" y="10922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kern="0" dirty="0">
                <a:solidFill>
                  <a:srgbClr val="9CA3AF"/>
                </a:solidFill>
              </a:rPr>
              <a:t>Snowflake Cortex and Databricks Genie target the same AI-over-governed-data layer. The honest question a board will ask — and the answer.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879600"/>
            <a:ext cx="3924300" cy="20066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2700">
            <a:solidFill>
              <a:srgbClr val="3F2A2A"/>
            </a:solidFill>
            <a:prstDash val="solid"/>
          </a:ln>
          <a:effectLst>
            <a:outerShdw blurRad="101600" dist="25400" dir="2700000" rotWithShape="0">
              <a:srgbClr val="000000">
                <a:alpha val="18000"/>
              </a:srgbClr>
            </a:outerShdw>
          </a:effectLst>
        </p:spPr>
      </p:sp>
      <p:sp>
        <p:nvSpPr>
          <p:cNvPr id="6" name="Card"/>
          <p:cNvSpPr/>
          <p:nvPr/>
        </p:nvSpPr>
        <p:spPr>
          <a:xfrm>
            <a:off x="4572000" y="1879600"/>
            <a:ext cx="3924300" cy="20066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2700">
            <a:solidFill>
              <a:srgbClr val="2A3F35"/>
            </a:solidFill>
            <a:prstDash val="solid"/>
          </a:ln>
          <a:effectLst>
            <a:outerShdw blurRad="101600" dist="25400" dir="2700000" rotWithShape="0">
              <a:srgbClr val="000000">
                <a:alpha val="18000"/>
              </a:srgbClr>
            </a:outerShdw>
          </a:effectLst>
        </p:spPr>
      </p:sp>
      <p:sp>
        <p:nvSpPr>
          <p:cNvPr id="7" name="LT"/>
          <p:cNvSpPr/>
          <p:nvPr/>
        </p:nvSpPr>
        <p:spPr>
          <a:xfrm>
            <a:off x="660400" y="2057400"/>
            <a:ext cx="3517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kern="0" dirty="0">
                <a:solidFill>
                  <a:srgbClr val="F87171"/>
                </a:solidFill>
              </a:rPr>
              <a:t>The Threat</a:t>
            </a:r>
            <a:endParaRPr lang="en-US" sz="1400" dirty="0"/>
          </a:p>
        </p:txBody>
      </p:sp>
      <p:sp>
        <p:nvSpPr>
          <p:cNvPr id="8" name="BT"/>
          <p:cNvSpPr/>
          <p:nvPr/>
        </p:nvSpPr>
        <p:spPr>
          <a:xfrm>
            <a:off x="660400" y="2438400"/>
            <a:ext cx="3517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E2E8F0"/>
                </a:solidFill>
              </a:rPr>
              <a:t>Snowflake (Cortex, Cortex Analyst, agents) and Databricks (Genie, Unity Catalog semantics) are building the semantic and natural-language layer natively — single-cloud and single-tenant by design.</a:t>
            </a:r>
            <a:endParaRPr lang="en-US" sz="1100" dirty="0"/>
          </a:p>
        </p:txBody>
      </p:sp>
      <p:sp>
        <p:nvSpPr>
          <p:cNvPr id="9" name="RT"/>
          <p:cNvSpPr/>
          <p:nvPr/>
        </p:nvSpPr>
        <p:spPr>
          <a:xfrm>
            <a:off x="4775200" y="2057400"/>
            <a:ext cx="3517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kern="0" dirty="0">
                <a:solidFill>
                  <a:srgbClr val="34D399"/>
                </a:solidFill>
              </a:rPr>
              <a:t>The Structural Answer</a:t>
            </a:r>
            <a:endParaRPr lang="en-US" sz="1400" dirty="0"/>
          </a:p>
        </p:txBody>
      </p:sp>
      <p:sp>
        <p:nvSpPr>
          <p:cNvPr id="10" name="BR"/>
          <p:cNvSpPr/>
          <p:nvPr/>
        </p:nvSpPr>
        <p:spPr>
          <a:xfrm>
            <a:off x="4775200" y="2438400"/>
            <a:ext cx="3517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kern="0" dirty="0">
                <a:solidFill>
                  <a:srgbClr val="E2E8F0"/>
                </a:solidFill>
              </a:rPr>
              <a:t>Revelate is the opposite: a neutral, cross-provider, multi-tenant governance and interrogation layer spanning Snowflake, Databricks, AWS, GCP and Azure — enforcing entitlements across providers and tenants. The one thing a cloud vendor will not build, because it dissolves their lock-in.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457200" y="4140200"/>
            <a:ext cx="8039100" cy="73660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Bet"/>
          <p:cNvSpPr/>
          <p:nvPr/>
        </p:nvSpPr>
        <p:spPr>
          <a:xfrm>
            <a:off x="711200" y="4267200"/>
            <a:ext cx="75311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kern="0" dirty="0">
                <a:solidFill>
                  <a:srgbClr val="6EE7B7"/>
                </a:solidFill>
              </a:rPr>
              <a:t xml:space="preserve">The strategic bet:  </a:t>
            </a:r>
            <a:r>
              <a:rPr lang="en-US" sz="1100" kern="0" dirty="0">
                <a:solidFill>
                  <a:srgbClr val="E2E8F0"/>
                </a:solidFill>
              </a:rPr>
              <a:t>be the neutral intelligence layer across clouds. The governance moat is why native cloud AI expands Revelate’s relevance rather than erasing it.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isks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457200" y="254000"/>
            <a:ext cx="822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SECTION 8 · RISKS</a:t>
            </a:r>
            <a:endParaRPr lang="en-US" sz="900" dirty="0"/>
          </a:p>
        </p:txBody>
      </p:sp>
      <p:sp>
        <p:nvSpPr>
          <p:cNvPr id="3" name="Title"/>
          <p:cNvSpPr/>
          <p:nvPr/>
        </p:nvSpPr>
        <p:spPr>
          <a:xfrm>
            <a:off x="457200" y="4826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kern="0" dirty="0">
                <a:solidFill>
                  <a:srgbClr val="F9FAFB"/>
                </a:solidFill>
              </a:rPr>
              <a:t>What Could Break the Thesis</a:t>
            </a:r>
            <a:endParaRPr lang="en-US" sz="2800" dirty="0"/>
          </a:p>
        </p:txBody>
      </p:sp>
      <p:sp>
        <p:nvSpPr>
          <p:cNvPr id="4" name="Intro"/>
          <p:cNvSpPr/>
          <p:nvPr/>
        </p:nvSpPr>
        <p:spPr>
          <a:xfrm>
            <a:off x="457200" y="10922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kern="0" dirty="0">
                <a:solidFill>
                  <a:srgbClr val="9CA3AF"/>
                </a:solidFill>
              </a:rPr>
              <a:t>Every section is a hypothesis. Each risk below already has a mitigation built into the approach — and discovery is designed to test these first.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879600"/>
            <a:ext cx="8039100" cy="4191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Circle"/>
          <p:cNvSpPr/>
          <p:nvPr/>
        </p:nvSpPr>
        <p:spPr>
          <a:xfrm>
            <a:off x="635000" y="2044700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Rk"/>
          <p:cNvSpPr/>
          <p:nvPr/>
        </p:nvSpPr>
        <p:spPr>
          <a:xfrm>
            <a:off x="863600" y="1879600"/>
            <a:ext cx="294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F9FAFB"/>
                </a:solidFill>
              </a:rPr>
              <a:t>Cloud platforms own the layer</a:t>
            </a:r>
            <a:endParaRPr lang="en-US" sz="1050" dirty="0"/>
          </a:p>
        </p:txBody>
      </p:sp>
      <p:sp>
        <p:nvSpPr>
          <p:cNvPr id="8" name="Mt"/>
          <p:cNvSpPr/>
          <p:nvPr/>
        </p:nvSpPr>
        <p:spPr>
          <a:xfrm>
            <a:off x="3911600" y="1879600"/>
            <a:ext cx="4660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CBD5E1"/>
                </a:solidFill>
              </a:rPr>
              <a:t>Win on the axis they won’t: neutral, cross-provider, multi-tenant governance.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457200" y="2349500"/>
            <a:ext cx="8039100" cy="4191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Circle"/>
          <p:cNvSpPr/>
          <p:nvPr/>
        </p:nvSpPr>
        <p:spPr>
          <a:xfrm>
            <a:off x="635000" y="2514600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Rk"/>
          <p:cNvSpPr/>
          <p:nvPr/>
        </p:nvSpPr>
        <p:spPr>
          <a:xfrm>
            <a:off x="863600" y="2349500"/>
            <a:ext cx="294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F9FAFB"/>
                </a:solidFill>
              </a:rPr>
              <a:t>MCP isn’t the standard</a:t>
            </a:r>
            <a:endParaRPr lang="en-US" sz="1050" dirty="0"/>
          </a:p>
        </p:txBody>
      </p:sp>
      <p:sp>
        <p:nvSpPr>
          <p:cNvPr id="12" name="Mt"/>
          <p:cNvSpPr/>
          <p:nvPr/>
        </p:nvSpPr>
        <p:spPr>
          <a:xfrm>
            <a:off x="3911600" y="2349500"/>
            <a:ext cx="4660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CBD5E1"/>
                </a:solidFill>
              </a:rPr>
              <a:t>Keep MCP a thin adapter over a protocol-agnostic governed core.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457200" y="2819400"/>
            <a:ext cx="8039100" cy="4191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Circle"/>
          <p:cNvSpPr/>
          <p:nvPr/>
        </p:nvSpPr>
        <p:spPr>
          <a:xfrm>
            <a:off x="635000" y="2984500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Rk"/>
          <p:cNvSpPr/>
          <p:nvPr/>
        </p:nvSpPr>
        <p:spPr>
          <a:xfrm>
            <a:off x="863600" y="2819400"/>
            <a:ext cx="294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F9FAFB"/>
                </a:solidFill>
              </a:rPr>
              <a:t>Data won’t flow through AI</a:t>
            </a:r>
            <a:endParaRPr lang="en-US" sz="1050" dirty="0"/>
          </a:p>
        </p:txBody>
      </p:sp>
      <p:sp>
        <p:nvSpPr>
          <p:cNvPr id="16" name="Mt"/>
          <p:cNvSpPr/>
          <p:nvPr/>
        </p:nvSpPr>
        <p:spPr>
          <a:xfrm>
            <a:off x="3911600" y="2819400"/>
            <a:ext cx="4660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CBD5E1"/>
                </a:solidFill>
              </a:rPr>
              <a:t>Model flexibility from day one: hosted, customer-VPC, and BYO-key.</a:t>
            </a:r>
            <a:endParaRPr lang="en-US" sz="1000" dirty="0"/>
          </a:p>
        </p:txBody>
      </p:sp>
      <p:sp>
        <p:nvSpPr>
          <p:cNvPr id="17" name="Card"/>
          <p:cNvSpPr/>
          <p:nvPr/>
        </p:nvSpPr>
        <p:spPr>
          <a:xfrm>
            <a:off x="457200" y="3289300"/>
            <a:ext cx="8039100" cy="4191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Circle"/>
          <p:cNvSpPr/>
          <p:nvPr/>
        </p:nvSpPr>
        <p:spPr>
          <a:xfrm>
            <a:off x="635000" y="3454400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Rk"/>
          <p:cNvSpPr/>
          <p:nvPr/>
        </p:nvSpPr>
        <p:spPr>
          <a:xfrm>
            <a:off x="863600" y="3289300"/>
            <a:ext cx="294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F9FAFB"/>
                </a:solidFill>
              </a:rPr>
              <a:t>Semantic-IP key-person risk</a:t>
            </a:r>
            <a:endParaRPr lang="en-US" sz="1050" dirty="0"/>
          </a:p>
        </p:txBody>
      </p:sp>
      <p:sp>
        <p:nvSpPr>
          <p:cNvPr id="20" name="Mt"/>
          <p:cNvSpPr/>
          <p:nvPr/>
        </p:nvSpPr>
        <p:spPr>
          <a:xfrm>
            <a:off x="3911600" y="3289300"/>
            <a:ext cx="4660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CBD5E1"/>
                </a:solidFill>
              </a:rPr>
              <a:t>Partner-first now; secure telemetry rights; productise the pipeline.</a:t>
            </a:r>
            <a:endParaRPr lang="en-US" sz="1000" dirty="0"/>
          </a:p>
        </p:txBody>
      </p:sp>
      <p:sp>
        <p:nvSpPr>
          <p:cNvPr id="21" name="Card"/>
          <p:cNvSpPr/>
          <p:nvPr/>
        </p:nvSpPr>
        <p:spPr>
          <a:xfrm>
            <a:off x="457200" y="3759200"/>
            <a:ext cx="8039100" cy="4191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Circle"/>
          <p:cNvSpPr/>
          <p:nvPr/>
        </p:nvSpPr>
        <p:spPr>
          <a:xfrm>
            <a:off x="635000" y="3924300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Rk"/>
          <p:cNvSpPr/>
          <p:nvPr/>
        </p:nvSpPr>
        <p:spPr>
          <a:xfrm>
            <a:off x="863600" y="3759200"/>
            <a:ext cx="294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F9FAFB"/>
                </a:solidFill>
              </a:rPr>
              <a:t>GTM execution doesn’t improve</a:t>
            </a:r>
            <a:endParaRPr lang="en-US" sz="1050" dirty="0"/>
          </a:p>
        </p:txBody>
      </p:sp>
      <p:sp>
        <p:nvSpPr>
          <p:cNvPr id="24" name="Mt"/>
          <p:cNvSpPr/>
          <p:nvPr/>
        </p:nvSpPr>
        <p:spPr>
          <a:xfrm>
            <a:off x="3911600" y="3759200"/>
            <a:ext cx="4660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CBD5E1"/>
                </a:solidFill>
              </a:rPr>
              <a:t>Concentrate: financial-services wedge, sharper ICP, land-and-expand pricing.</a:t>
            </a:r>
            <a:endParaRPr lang="en-US" sz="1000" dirty="0"/>
          </a:p>
        </p:txBody>
      </p:sp>
      <p:sp>
        <p:nvSpPr>
          <p:cNvPr id="25" name="Card"/>
          <p:cNvSpPr/>
          <p:nvPr/>
        </p:nvSpPr>
        <p:spPr>
          <a:xfrm>
            <a:off x="457200" y="4229100"/>
            <a:ext cx="8039100" cy="4191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Circle"/>
          <p:cNvSpPr/>
          <p:nvPr/>
        </p:nvSpPr>
        <p:spPr>
          <a:xfrm>
            <a:off x="635000" y="4394200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Rk"/>
          <p:cNvSpPr/>
          <p:nvPr/>
        </p:nvSpPr>
        <p:spPr>
          <a:xfrm>
            <a:off x="863600" y="4229100"/>
            <a:ext cx="294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kern="0" dirty="0">
                <a:solidFill>
                  <a:srgbClr val="F9FAFB"/>
                </a:solidFill>
              </a:rPr>
              <a:t>Lean team can’t deliver</a:t>
            </a:r>
            <a:endParaRPr lang="en-US" sz="1050" dirty="0"/>
          </a:p>
        </p:txBody>
      </p:sp>
      <p:sp>
        <p:nvSpPr>
          <p:cNvPr id="28" name="Mt"/>
          <p:cNvSpPr/>
          <p:nvPr/>
        </p:nvSpPr>
        <p:spPr>
          <a:xfrm>
            <a:off x="3911600" y="4229100"/>
            <a:ext cx="4660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CBD5E1"/>
                </a:solidFill>
              </a:rPr>
              <a:t>AI-native practice, ruthless phasing, partner-first on undifferentiated infra.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Revelate Strategic Concept Proposal</dc:title>
  <dc:subject>PptxGenJS Presentation</dc:subject>
  <dc:creator>PptxGenJS</dc:creator>
  <cp:lastModifiedBy>PptxGenJS</cp:lastModifiedBy>
  <cp:revision>1</cp:revision>
  <dcterms:created xsi:type="dcterms:W3CDTF">2026-06-19T14:14:24Z</dcterms:created>
  <dcterms:modified xsi:type="dcterms:W3CDTF">2026-06-19T14:14:24Z</dcterms:modified>
</cp:coreProperties>
</file>